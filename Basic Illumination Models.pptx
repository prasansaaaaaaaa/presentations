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5" r:id="rId2"/>
    <p:sldId id="273" r:id="rId3"/>
    <p:sldId id="274" r:id="rId4"/>
    <p:sldId id="279" r:id="rId5"/>
    <p:sldId id="281" r:id="rId6"/>
    <p:sldId id="282" r:id="rId7"/>
    <p:sldId id="285" r:id="rId8"/>
    <p:sldId id="283" r:id="rId9"/>
    <p:sldId id="28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7AB6B9-C366-4B96-9ED7-8CF8179C29E6}" v="1" dt="2026-03-10T12:18:09.104"/>
  </p1510:revLst>
</p1510:revInfo>
</file>

<file path=ppt/tableStyles.xml><?xml version="1.0" encoding="utf-8"?>
<a:tblStyleLst xmlns:a="http://schemas.openxmlformats.org/drawingml/2006/main" def="{793D81CF-94F2-401A-BA57-92F5A7B2D0C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706" autoAdjust="0"/>
  </p:normalViewPr>
  <p:slideViewPr>
    <p:cSldViewPr snapToGrid="0">
      <p:cViewPr varScale="1">
        <p:scale>
          <a:sx n="74" d="100"/>
          <a:sy n="74" d="100"/>
        </p:scale>
        <p:origin x="60" y="5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1986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amsha nepal" userId="ebafb75ae14e3e27" providerId="LiveId" clId="{6F7AB6B9-C366-4B96-9ED7-8CF8179C29E6}"/>
    <pc:docChg chg="modSld">
      <pc:chgData name="prasamsha nepal" userId="ebafb75ae14e3e27" providerId="LiveId" clId="{6F7AB6B9-C366-4B96-9ED7-8CF8179C29E6}" dt="2026-03-10T12:18:09.104" v="0"/>
      <pc:docMkLst>
        <pc:docMk/>
      </pc:docMkLst>
      <pc:sldChg chg="modTransition">
        <pc:chgData name="prasamsha nepal" userId="ebafb75ae14e3e27" providerId="LiveId" clId="{6F7AB6B9-C366-4B96-9ED7-8CF8179C29E6}" dt="2026-03-10T12:18:09.104" v="0"/>
        <pc:sldMkLst>
          <pc:docMk/>
          <pc:sldMk cId="2798809327" sldId="26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t>3/10/2026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t>3/10/2026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un rising over grassy hill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" y="0"/>
            <a:ext cx="12188699" cy="47993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 bwMode="ltGray">
          <a:xfrm>
            <a:off x="-2" y="4754880"/>
            <a:ext cx="12192002" cy="21031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 bwMode="white">
          <a:xfrm>
            <a:off x="-127" y="4724400"/>
            <a:ext cx="12188826" cy="76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4800600"/>
            <a:ext cx="9144002" cy="11430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943600"/>
            <a:ext cx="9144002" cy="7620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8288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6pP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t>3/10/2026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/>
          <p:nvPr/>
        </p:nvSpPr>
        <p:spPr bwMode="ltGray">
          <a:xfrm>
            <a:off x="0" y="0"/>
            <a:ext cx="12188826" cy="4572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Rectangle 2"/>
          <p:cNvSpPr/>
          <p:nvPr/>
        </p:nvSpPr>
        <p:spPr bwMode="white">
          <a:xfrm>
            <a:off x="-1" y="4114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t>3/10/2026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5843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lternate 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3/10/2026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4328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112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7D43D-6574-4C7B-808D-C6C12215A4D4}" type="datetimeFigureOut">
              <a:rPr lang="en-US"/>
              <a:t>3/10/2026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CE5F2-81AA-4605-B028-6FBA391056A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707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t>3/10/2026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7080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t>3/10/2026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201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3/10/2026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4212" y="685800"/>
            <a:ext cx="7239001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t>3/10/2026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594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Alternate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892" y="685800"/>
            <a:ext cx="637032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3/10/2026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3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731520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4" y="2362200"/>
            <a:ext cx="3200400" cy="1993392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0" y="0"/>
            <a:ext cx="7315200" cy="6858000"/>
          </a:xfrm>
          <a:solidFill>
            <a:schemeClr val="bg2">
              <a:lumMod val="90000"/>
            </a:schemeClr>
          </a:solidFill>
        </p:spPr>
        <p:txBody>
          <a:bodyPr/>
          <a:lstStyle>
            <a:lvl1pPr marL="0" indent="0" algn="ctr"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4" y="4355592"/>
            <a:ext cx="3200400" cy="164461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t>3/10/2026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t>3/10/2026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857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t>3/10/2026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155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Rectangle 3"/>
          <p:cNvSpPr/>
          <p:nvPr/>
        </p:nvSpPr>
        <p:spPr bwMode="ltGray">
          <a:xfrm>
            <a:off x="1587" y="6583680"/>
            <a:ext cx="12188826" cy="2743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614494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Rectangle 5"/>
          <p:cNvSpPr/>
          <p:nvPr/>
        </p:nvSpPr>
        <p:spPr bwMode="white">
          <a:xfrm>
            <a:off x="1587" y="65836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2"/>
          </p:nvPr>
        </p:nvSpPr>
        <p:spPr>
          <a:xfrm>
            <a:off x="8875776" y="6614494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9E583DDF-CA54-461A-A486-592D2374C532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210800" y="6614494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2" r:id="rId4"/>
    <p:sldLayoutId id="2147483661" r:id="rId5"/>
    <p:sldLayoutId id="2147483653" r:id="rId6"/>
    <p:sldLayoutId id="2147483654" r:id="rId7"/>
    <p:sldLayoutId id="2147483655" r:id="rId8"/>
    <p:sldLayoutId id="2147483656" r:id="rId9"/>
    <p:sldLayoutId id="2147483663" r:id="rId10"/>
    <p:sldLayoutId id="2147483657" r:id="rId11"/>
    <p:sldLayoutId id="2147483658" r:id="rId12"/>
    <p:sldLayoutId id="2147483659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3400" kern="1200">
          <a:solidFill>
            <a:schemeClr val="tx2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SzPct val="100000"/>
        <a:buFont typeface="Arial" pitchFamily="34" charset="0"/>
        <a:buChar char="▪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SzPct val="100000"/>
        <a:buFont typeface="Arial" pitchFamily="34" charset="0"/>
        <a:buChar char="▪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100000"/>
        <a:buFont typeface="Arial" pitchFamily="34" charset="0"/>
        <a:buChar char="▪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100000"/>
        <a:buFont typeface="Arial" pitchFamily="34" charset="0"/>
        <a:buChar char="▪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100000"/>
        <a:buFont typeface="Arial" pitchFamily="34" charset="0"/>
        <a:buChar char="▪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63141" y="1939834"/>
            <a:ext cx="9144002" cy="1143000"/>
          </a:xfrm>
        </p:spPr>
        <p:txBody>
          <a:bodyPr>
            <a:noAutofit/>
          </a:bodyPr>
          <a:lstStyle/>
          <a:p>
            <a:r>
              <a:rPr lang="en-US" sz="5400" b="1" dirty="0"/>
              <a:t>Basic</a:t>
            </a:r>
            <a:br>
              <a:rPr lang="en-US" sz="5400" b="1" dirty="0"/>
            </a:br>
            <a:r>
              <a:rPr lang="en-US" sz="5400" b="1" dirty="0"/>
              <a:t> Illumination</a:t>
            </a:r>
            <a:br>
              <a:rPr lang="en-US" sz="5400" b="1" dirty="0"/>
            </a:br>
            <a:r>
              <a:rPr lang="en-US" sz="5400" b="1" dirty="0"/>
              <a:t> Models</a:t>
            </a:r>
            <a:endParaRPr lang="en-US" sz="5400" dirty="0"/>
          </a:p>
        </p:txBody>
      </p:sp>
      <p:sp>
        <p:nvSpPr>
          <p:cNvPr id="3" name="TextBox 2"/>
          <p:cNvSpPr txBox="1"/>
          <p:nvPr/>
        </p:nvSpPr>
        <p:spPr>
          <a:xfrm>
            <a:off x="2980507" y="5512525"/>
            <a:ext cx="6466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Presented By: </a:t>
            </a:r>
            <a:r>
              <a:rPr lang="en-US" sz="24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Prasamsha</a:t>
            </a:r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 Nepal</a:t>
            </a:r>
          </a:p>
        </p:txBody>
      </p:sp>
    </p:spTree>
    <p:extLst>
      <p:ext uri="{BB962C8B-B14F-4D97-AF65-F5344CB8AC3E}">
        <p14:creationId xmlns:p14="http://schemas.microsoft.com/office/powerpoint/2010/main" val="27988093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184366" y="-120469"/>
            <a:ext cx="9509760" cy="1233424"/>
          </a:xfrm>
        </p:spPr>
        <p:txBody>
          <a:bodyPr/>
          <a:lstStyle/>
          <a:p>
            <a:r>
              <a:rPr lang="en-US" u="sng" dirty="0"/>
              <a:t>Introduction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288868" y="1562317"/>
            <a:ext cx="9509760" cy="4127627"/>
          </a:xfrm>
        </p:spPr>
        <p:txBody>
          <a:bodyPr>
            <a:normAutofit/>
          </a:bodyPr>
          <a:lstStyle/>
          <a:p>
            <a:r>
              <a:rPr lang="en-US" sz="2400" b="1" dirty="0"/>
              <a:t>What is illumination???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i="1" dirty="0"/>
              <a:t>It is the amount of light that falls on a surface.</a:t>
            </a:r>
          </a:p>
          <a:p>
            <a:r>
              <a:rPr lang="en-US" sz="2400" b="1" dirty="0"/>
              <a:t>Definition:</a:t>
            </a:r>
            <a:r>
              <a:rPr lang="en-US" sz="2400" dirty="0"/>
              <a:t> A model that describes how light interacts with a surface.</a:t>
            </a:r>
          </a:p>
          <a:p>
            <a:r>
              <a:rPr lang="en-US" sz="2400" b="1" dirty="0"/>
              <a:t>Purpose:</a:t>
            </a:r>
            <a:r>
              <a:rPr lang="en-US" sz="2400" dirty="0"/>
              <a:t> Used to calculate light intensity at a point on an object.</a:t>
            </a:r>
          </a:p>
          <a:p>
            <a:r>
              <a:rPr lang="en-US" sz="2400" b="1" dirty="0"/>
              <a:t>Factors Influencing Illumination:</a:t>
            </a:r>
            <a:r>
              <a:rPr lang="en-US" sz="2400" dirty="0"/>
              <a:t> </a:t>
            </a:r>
          </a:p>
          <a:p>
            <a:pPr lvl="1"/>
            <a:r>
              <a:rPr lang="en-US" sz="2400" dirty="0"/>
              <a:t>Optical properties of the surface</a:t>
            </a:r>
          </a:p>
          <a:p>
            <a:pPr lvl="1"/>
            <a:r>
              <a:rPr lang="en-US" sz="2400" dirty="0"/>
              <a:t>Background lighting conditions</a:t>
            </a:r>
          </a:p>
          <a:p>
            <a:pPr lvl="1"/>
            <a:r>
              <a:rPr lang="en-US" sz="2400" dirty="0"/>
              <a:t>Light source specifications</a:t>
            </a:r>
          </a:p>
        </p:txBody>
      </p:sp>
    </p:spTree>
    <p:extLst>
      <p:ext uri="{BB962C8B-B14F-4D97-AF65-F5344CB8AC3E}">
        <p14:creationId xmlns:p14="http://schemas.microsoft.com/office/powerpoint/2010/main" val="149595506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Types of Illumination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800" b="1" dirty="0"/>
              <a:t>Ambient Light</a:t>
            </a:r>
            <a:endParaRPr lang="fr-FR" sz="2800" dirty="0"/>
          </a:p>
          <a:p>
            <a:r>
              <a:rPr lang="fr-FR" sz="2800" b="1" dirty="0"/>
              <a:t>Diffuse </a:t>
            </a:r>
            <a:r>
              <a:rPr lang="fr-FR" sz="2800" b="1" dirty="0" err="1"/>
              <a:t>Reflection</a:t>
            </a:r>
            <a:endParaRPr lang="fr-FR" sz="2800" dirty="0"/>
          </a:p>
          <a:p>
            <a:r>
              <a:rPr lang="fr-FR" sz="2800" b="1" dirty="0" err="1"/>
              <a:t>Specular</a:t>
            </a:r>
            <a:r>
              <a:rPr lang="fr-FR" sz="2800" b="1" dirty="0"/>
              <a:t> </a:t>
            </a:r>
            <a:r>
              <a:rPr lang="fr-FR" sz="2800" b="1" dirty="0" err="1"/>
              <a:t>Reflection</a:t>
            </a:r>
            <a:endParaRPr lang="fr-FR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887586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830" y="260300"/>
            <a:ext cx="9509760" cy="616712"/>
          </a:xfrm>
        </p:spPr>
        <p:txBody>
          <a:bodyPr/>
          <a:lstStyle/>
          <a:p>
            <a:r>
              <a:rPr lang="en-US" u="sng" dirty="0"/>
              <a:t>Ambient Light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52699" y="877012"/>
            <a:ext cx="11129554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/>
              <a:t>Definition:</a:t>
            </a:r>
            <a:r>
              <a:rPr lang="en-US" altLang="en-US" sz="2400" dirty="0"/>
              <a:t> Light that is uniformly present in a scene, even without a direct light source.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/>
              <a:t>Sources:</a:t>
            </a:r>
            <a:r>
              <a:rPr lang="en-US" altLang="en-US" sz="2400" dirty="0"/>
              <a:t> Natural light (sunlight, windows) or artificial light (room lights).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/>
              <a:t>Properties:</a:t>
            </a:r>
            <a:r>
              <a:rPr lang="en-US" altLang="en-US" sz="2400" dirty="0"/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Equal intensity across the scene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No specific direction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Affects all objects equally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/>
              <a:t>Equation:</a:t>
            </a:r>
            <a:br>
              <a:rPr lang="en-US" altLang="en-US" sz="2400" dirty="0"/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57" t="18937" r="55019" b="16997"/>
          <a:stretch/>
        </p:blipFill>
        <p:spPr>
          <a:xfrm>
            <a:off x="2037805" y="3944981"/>
            <a:ext cx="1920241" cy="6400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67051" y="4167051"/>
            <a:ext cx="647917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en-US" sz="2400" dirty="0">
                <a:solidFill>
                  <a:schemeClr val="tx1">
                    <a:lumMod val="50000"/>
                  </a:schemeClr>
                </a:solidFill>
              </a:rPr>
              <a:t>Where,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tx1">
                    <a:lumMod val="50000"/>
                  </a:schemeClr>
                </a:solidFill>
              </a:rPr>
              <a:t> I </a:t>
            </a:r>
            <a:r>
              <a:rPr lang="en-US" altLang="en-US" sz="2400" dirty="0">
                <a:solidFill>
                  <a:schemeClr val="tx1">
                    <a:lumMod val="50000"/>
                  </a:schemeClr>
                </a:solidFill>
              </a:rPr>
              <a:t>=intensity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altLang="en-US" sz="2400" b="1" dirty="0" err="1">
                <a:solidFill>
                  <a:schemeClr val="tx1">
                    <a:lumMod val="50000"/>
                  </a:schemeClr>
                </a:solidFill>
              </a:rPr>
              <a:t>K</a:t>
            </a:r>
            <a:r>
              <a:rPr lang="en-US" altLang="en-US" sz="2000" b="1" dirty="0" err="1">
                <a:solidFill>
                  <a:schemeClr val="tx1">
                    <a:lumMod val="50000"/>
                  </a:schemeClr>
                </a:solidFill>
              </a:rPr>
              <a:t>a</a:t>
            </a:r>
            <a:r>
              <a:rPr lang="en-US" altLang="en-US" sz="2400" dirty="0">
                <a:solidFill>
                  <a:schemeClr val="tx1">
                    <a:lumMod val="50000"/>
                  </a:schemeClr>
                </a:solidFill>
              </a:rPr>
              <a:t> =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Ambient reflection coefficient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tx1">
                    <a:lumMod val="50000"/>
                  </a:schemeClr>
                </a:solidFill>
              </a:rPr>
              <a:t>I</a:t>
            </a:r>
            <a:r>
              <a:rPr lang="en-US" sz="2000" b="1" dirty="0" err="1">
                <a:solidFill>
                  <a:schemeClr val="tx1">
                    <a:lumMod val="50000"/>
                  </a:schemeClr>
                </a:solidFill>
              </a:rPr>
              <a:t>a</a:t>
            </a:r>
            <a:r>
              <a:rPr lang="en-US" sz="2400" b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= Ambient light intensity</a:t>
            </a:r>
            <a:r>
              <a:rPr lang="en-US" altLang="en-US" sz="2400" dirty="0">
                <a:solidFill>
                  <a:schemeClr val="tx1">
                    <a:lumMod val="50000"/>
                  </a:schemeClr>
                </a:solidFill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50159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830" y="377865"/>
            <a:ext cx="9509760" cy="616712"/>
          </a:xfrm>
        </p:spPr>
        <p:txBody>
          <a:bodyPr/>
          <a:lstStyle/>
          <a:p>
            <a:r>
              <a:rPr lang="en-US" u="sng" dirty="0"/>
              <a:t>Diffuse Reflection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01681" y="1371078"/>
            <a:ext cx="1081154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Definition: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Uniform illumination across a surface due to scattered light reflections.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Light bouncing off walls, floors, and ceilings.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Properties: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Reflection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independent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viewing direction.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Follows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Lambert’s Cosine Law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" t="1276" r="60259"/>
          <a:stretch/>
        </p:blipFill>
        <p:spPr>
          <a:xfrm>
            <a:off x="679270" y="3506013"/>
            <a:ext cx="3161211" cy="11320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87783" y="3402403"/>
            <a:ext cx="722376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>
                    <a:lumMod val="50000"/>
                  </a:schemeClr>
                </a:solidFill>
              </a:rPr>
              <a:t>I</a:t>
            </a:r>
            <a:r>
              <a:rPr lang="en-US" sz="2000" b="1" dirty="0">
                <a:solidFill>
                  <a:schemeClr val="tx1">
                    <a:lumMod val="50000"/>
                  </a:schemeClr>
                </a:solidFill>
              </a:rPr>
              <a:t>L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​ = Light intensity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tx1">
                    <a:lumMod val="50000"/>
                  </a:schemeClr>
                </a:solidFill>
              </a:rPr>
              <a:t>K</a:t>
            </a:r>
            <a:r>
              <a:rPr lang="en-US" sz="2000" b="1" dirty="0" err="1">
                <a:solidFill>
                  <a:schemeClr val="tx1">
                    <a:lumMod val="50000"/>
                  </a:schemeClr>
                </a:solidFill>
              </a:rPr>
              <a:t>d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​ = Diffuse reflection coefficient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>
                    <a:lumMod val="50000"/>
                  </a:schemeClr>
                </a:solidFill>
              </a:rPr>
              <a:t>θ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 = Angle between light direction and surface normal</a:t>
            </a:r>
            <a:endParaRPr lang="en-US" alt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15261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830" y="377865"/>
            <a:ext cx="9509760" cy="616712"/>
          </a:xfrm>
        </p:spPr>
        <p:txBody>
          <a:bodyPr/>
          <a:lstStyle/>
          <a:p>
            <a:r>
              <a:rPr lang="en-US" u="sng" dirty="0"/>
              <a:t>Specular Reflection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587830" y="2287239"/>
            <a:ext cx="1112955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2400" dirty="0"/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587830" y="1347276"/>
            <a:ext cx="1196032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Definition: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Bright highlights on smooth, shiny surfaces due to concentrated light reflection.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Polished metal, glossy paint, oily skin.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Properties: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Depends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light direction, surface normal, and viewer position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Follows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Specular Reflection Model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844"/>
          <a:stretch/>
        </p:blipFill>
        <p:spPr>
          <a:xfrm>
            <a:off x="783773" y="3378518"/>
            <a:ext cx="3762101" cy="9067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7830" y="4558937"/>
            <a:ext cx="74197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>
                    <a:lumMod val="50000"/>
                  </a:schemeClr>
                </a:solidFill>
              </a:rPr>
              <a:t>I</a:t>
            </a:r>
            <a:r>
              <a:rPr lang="en-US" sz="2000" b="1" dirty="0">
                <a:solidFill>
                  <a:schemeClr val="tx1">
                    <a:lumMod val="50000"/>
                  </a:schemeClr>
                </a:solidFill>
              </a:rPr>
              <a:t>L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​ = Light intensity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>
                    <a:lumMod val="50000"/>
                  </a:schemeClr>
                </a:solidFill>
              </a:rPr>
              <a:t>w(θ) 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= Fraction of directly reflected light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l-GR" sz="2400" b="1" dirty="0">
                <a:solidFill>
                  <a:schemeClr val="tx1">
                    <a:lumMod val="50000"/>
                  </a:schemeClr>
                </a:solidFill>
              </a:rPr>
              <a:t>α</a:t>
            </a:r>
            <a:r>
              <a:rPr lang="el-GR" sz="2400" dirty="0">
                <a:solidFill>
                  <a:schemeClr val="tx1">
                    <a:lumMod val="50000"/>
                  </a:schemeClr>
                </a:solidFill>
              </a:rPr>
              <a:t> = 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Specular reflection exponent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>
                    <a:lumMod val="50000"/>
                  </a:schemeClr>
                </a:solidFill>
              </a:rPr>
              <a:t>Higher n 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→ sharper reflection (mirror-like)</a:t>
            </a:r>
          </a:p>
        </p:txBody>
      </p:sp>
    </p:spTree>
    <p:extLst>
      <p:ext uri="{BB962C8B-B14F-4D97-AF65-F5344CB8AC3E}">
        <p14:creationId xmlns:p14="http://schemas.microsoft.com/office/powerpoint/2010/main" val="421126551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"/>
          <a:stretch/>
        </p:blipFill>
        <p:spPr>
          <a:xfrm>
            <a:off x="979714" y="744583"/>
            <a:ext cx="10202092" cy="485938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509760" y="744583"/>
            <a:ext cx="1672046" cy="103196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512512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040" y="0"/>
            <a:ext cx="9509760" cy="1233424"/>
          </a:xfrm>
        </p:spPr>
        <p:txBody>
          <a:bodyPr/>
          <a:lstStyle/>
          <a:p>
            <a:r>
              <a:rPr lang="en-US" b="1" u="sng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1486" y="1510067"/>
            <a:ext cx="9509760" cy="4127627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tx1">
                    <a:lumMod val="50000"/>
                  </a:schemeClr>
                </a:solidFill>
              </a:rPr>
              <a:t>Illumination models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 help understand how light interacts with surfaces.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tx1">
                    <a:lumMod val="50000"/>
                  </a:schemeClr>
                </a:solidFill>
              </a:rPr>
              <a:t>Three types: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tx1">
                    <a:lumMod val="50000"/>
                  </a:schemeClr>
                </a:solidFill>
              </a:rPr>
              <a:t>Ambient Light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 → Background light, uniform illumination.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tx1">
                    <a:lumMod val="50000"/>
                  </a:schemeClr>
                </a:solidFill>
              </a:rPr>
              <a:t>Diffuse Reflection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 → Scattered light, matte surfaces.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tx1">
                    <a:lumMod val="50000"/>
                  </a:schemeClr>
                </a:solidFill>
              </a:rPr>
              <a:t>Specular Reflection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 → Shiny highlights, mirror-like reflection.</a:t>
            </a:r>
          </a:p>
          <a:p>
            <a:pPr marL="45720" indent="0">
              <a:buNone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16259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Thankyou  ^_^</a:t>
            </a:r>
          </a:p>
        </p:txBody>
      </p:sp>
    </p:spTree>
    <p:extLst>
      <p:ext uri="{BB962C8B-B14F-4D97-AF65-F5344CB8AC3E}">
        <p14:creationId xmlns:p14="http://schemas.microsoft.com/office/powerpoint/2010/main" val="35193460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Banded Design Blue 16x9">
  <a:themeElements>
    <a:clrScheme name="Banded Design Blue">
      <a:dk1>
        <a:srgbClr val="404040"/>
      </a:dk1>
      <a:lt1>
        <a:sysClr val="window" lastClr="FFFFFF"/>
      </a:lt1>
      <a:dk2>
        <a:srgbClr val="263050"/>
      </a:dk2>
      <a:lt2>
        <a:srgbClr val="E5E8E8"/>
      </a:lt2>
      <a:accent1>
        <a:srgbClr val="77B142"/>
      </a:accent1>
      <a:accent2>
        <a:srgbClr val="E3C01E"/>
      </a:accent2>
      <a:accent3>
        <a:srgbClr val="0070C0"/>
      </a:accent3>
      <a:accent4>
        <a:srgbClr val="7556A4"/>
      </a:accent4>
      <a:accent5>
        <a:srgbClr val="F08F1E"/>
      </a:accent5>
      <a:accent6>
        <a:srgbClr val="CB3E3A"/>
      </a:accent6>
      <a:hlink>
        <a:srgbClr val="0070C0"/>
      </a:hlink>
      <a:folHlink>
        <a:srgbClr val="7556A4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084.potx" id="{22E7A37F-2161-4E4B-A340-BF7CA314E3E5}" vid="{F2416EA9-E215-4704-9EB2-B7658E7031A3}"/>
    </a:ext>
  </a:extLst>
</a:theme>
</file>

<file path=ppt/theme/theme2.xml><?xml version="1.0" encoding="utf-8"?>
<a:theme xmlns:a="http://schemas.openxmlformats.org/drawingml/2006/main" name="Office Theme">
  <a:themeElements>
    <a:clrScheme name="Banded Design Blue">
      <a:dk1>
        <a:srgbClr val="404040"/>
      </a:dk1>
      <a:lt1>
        <a:sysClr val="window" lastClr="FFFFFF"/>
      </a:lt1>
      <a:dk2>
        <a:srgbClr val="263050"/>
      </a:dk2>
      <a:lt2>
        <a:srgbClr val="E5E8E8"/>
      </a:lt2>
      <a:accent1>
        <a:srgbClr val="77B142"/>
      </a:accent1>
      <a:accent2>
        <a:srgbClr val="E3C01E"/>
      </a:accent2>
      <a:accent3>
        <a:srgbClr val="0070C0"/>
      </a:accent3>
      <a:accent4>
        <a:srgbClr val="7556A4"/>
      </a:accent4>
      <a:accent5>
        <a:srgbClr val="F08F1E"/>
      </a:accent5>
      <a:accent6>
        <a:srgbClr val="CB3E3A"/>
      </a:accent6>
      <a:hlink>
        <a:srgbClr val="0070C0"/>
      </a:hlink>
      <a:folHlink>
        <a:srgbClr val="7556A4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 Design Blue">
      <a:dk1>
        <a:srgbClr val="404040"/>
      </a:dk1>
      <a:lt1>
        <a:sysClr val="window" lastClr="FFFFFF"/>
      </a:lt1>
      <a:dk2>
        <a:srgbClr val="263050"/>
      </a:dk2>
      <a:lt2>
        <a:srgbClr val="E5E8E8"/>
      </a:lt2>
      <a:accent1>
        <a:srgbClr val="77B142"/>
      </a:accent1>
      <a:accent2>
        <a:srgbClr val="E3C01E"/>
      </a:accent2>
      <a:accent3>
        <a:srgbClr val="0070C0"/>
      </a:accent3>
      <a:accent4>
        <a:srgbClr val="7556A4"/>
      </a:accent4>
      <a:accent5>
        <a:srgbClr val="F08F1E"/>
      </a:accent5>
      <a:accent6>
        <a:srgbClr val="CB3E3A"/>
      </a:accent6>
      <a:hlink>
        <a:srgbClr val="0070C0"/>
      </a:hlink>
      <a:folHlink>
        <a:srgbClr val="7556A4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Blue banded nature presentation with mountain sunrise photo (widescreen)</Template>
  <TotalTime>98</TotalTime>
  <Words>333</Words>
  <Application>Microsoft Office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Corbel</vt:lpstr>
      <vt:lpstr>Euphemia</vt:lpstr>
      <vt:lpstr>Wingdings</vt:lpstr>
      <vt:lpstr>Banded Design Blue 16x9</vt:lpstr>
      <vt:lpstr>Basic  Illumination  Models</vt:lpstr>
      <vt:lpstr>Introduction</vt:lpstr>
      <vt:lpstr>Types of Illumination Models</vt:lpstr>
      <vt:lpstr>Ambient Light</vt:lpstr>
      <vt:lpstr>Diffuse Reflection</vt:lpstr>
      <vt:lpstr>Specular Reflection</vt:lpstr>
      <vt:lpstr>PowerPoint Presentation</vt:lpstr>
      <vt:lpstr>Conclusion</vt:lpstr>
      <vt:lpstr>Thankyou  ^_^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Illumination Models</dc:title>
  <dc:creator>HP</dc:creator>
  <cp:lastModifiedBy>prasamsha nepal</cp:lastModifiedBy>
  <cp:revision>12</cp:revision>
  <dcterms:created xsi:type="dcterms:W3CDTF">2025-03-10T14:53:50Z</dcterms:created>
  <dcterms:modified xsi:type="dcterms:W3CDTF">2026-03-10T12:18:18Z</dcterms:modified>
</cp:coreProperties>
</file>